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5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52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D6F8-0058-290C-BBC2-30C58A35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599A9-BFF5-3603-43EB-1884BEDBD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1F180-8B8B-1C63-DE65-CC5250910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2AA13-0D2F-A9A8-20DD-95F591A7E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92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576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7878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048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7344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6936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2459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9574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132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2749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8235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873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95923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938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3783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896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623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21091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13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shith3110/cricket-match-outcome-predictor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548640"/>
            <a:ext cx="4114800" cy="4114800"/>
          </a:xfrm>
          <a:prstGeom prst="ellipse">
            <a:avLst/>
          </a:prstGeom>
          <a:solidFill>
            <a:srgbClr val="1A3F8F"/>
          </a:solidFill>
          <a:ln w="12700">
            <a:solidFill>
              <a:srgbClr val="1A3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-182880"/>
            <a:ext cx="3383280" cy="3383280"/>
          </a:xfrm>
          <a:prstGeom prst="ellipse">
            <a:avLst/>
          </a:prstGeom>
          <a:solidFill>
            <a:srgbClr val="3A6BC4"/>
          </a:solidFill>
          <a:ln w="12700">
            <a:solidFill>
              <a:srgbClr val="3A6B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182880"/>
            <a:ext cx="0" cy="2560320"/>
          </a:xfrm>
          <a:prstGeom prst="line">
            <a:avLst/>
          </a:prstGeom>
          <a:noFill/>
          <a:ln w="31750">
            <a:solidFill>
              <a:srgbClr val="C0D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731520"/>
            <a:ext cx="1463040" cy="0"/>
          </a:xfrm>
          <a:prstGeom prst="line">
            <a:avLst/>
          </a:prstGeom>
          <a:noFill/>
          <a:ln w="31750">
            <a:solidFill>
              <a:srgbClr val="C0D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280160"/>
            <a:ext cx="1463040" cy="0"/>
          </a:xfrm>
          <a:prstGeom prst="line">
            <a:avLst/>
          </a:prstGeom>
          <a:noFill/>
          <a:ln w="31750">
            <a:solidFill>
              <a:srgbClr val="C0D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828800"/>
            <a:ext cx="1463040" cy="0"/>
          </a:xfrm>
          <a:prstGeom prst="line">
            <a:avLst/>
          </a:prstGeom>
          <a:noFill/>
          <a:ln w="31750">
            <a:solidFill>
              <a:srgbClr val="C0D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A8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Cricket Match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Predictor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— CSE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4754880" cy="41148"/>
          </a:xfrm>
          <a:prstGeom prst="rect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46120"/>
            <a:ext cx="4937760" cy="1371600"/>
          </a:xfrm>
          <a:prstGeom prst="rect">
            <a:avLst/>
          </a:prstGeom>
          <a:solidFill>
            <a:srgbClr val="1A3F8F">
              <a:alpha val="70000"/>
            </a:srgbClr>
          </a:solidFill>
          <a:ln w="19050">
            <a:solidFill>
              <a:srgbClr val="A8B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310128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RISHITH KULKARNI
</a:t>
            </a:r>
            <a:r>
              <a:rPr lang="en-US" sz="16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HTNO: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2403A51188
</a:t>
            </a:r>
            <a:r>
              <a:rPr lang="en-US" sz="16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B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CSE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CCCBC-A31A-C5D6-64EB-DF845392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34D3602-A60C-870E-1A11-27321DF0BD1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9FB24B8C-0EC1-4154-24F4-E0A9B4171C35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68AED709-E24C-B2ED-48D5-04AEDD63ED49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0F7A8229-0B14-89CA-3F92-C1AE476FEEAB}"/>
              </a:ext>
            </a:extLst>
          </p:cNvPr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Problem Statement</a:t>
            </a:r>
            <a:endParaRPr lang="en-US" sz="320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D05E2611-61B1-AB67-239B-02453A902F10}"/>
              </a:ext>
            </a:extLst>
          </p:cNvPr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To predict the winner of a cricket match using machine learning techniques based on historical data and match-related features.</a:t>
            </a:r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9B463A55-CEE3-CB8F-598A-0A80BB44712D}"/>
              </a:ext>
            </a:extLst>
          </p:cNvPr>
          <p:cNvSpPr/>
          <p:nvPr/>
        </p:nvSpPr>
        <p:spPr>
          <a:xfrm>
            <a:off x="36576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 Matches</a:t>
            </a:r>
            <a:endParaRPr lang="en-US" sz="15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2202FA63-6B85-DA05-2CE1-796E8226973F}"/>
              </a:ext>
            </a:extLst>
          </p:cNvPr>
          <p:cNvSpPr/>
          <p:nvPr/>
        </p:nvSpPr>
        <p:spPr>
          <a:xfrm>
            <a:off x="4023360" y="22860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BFD851CF-CA92-F926-A90C-26EE2F2A8EA0}"/>
              </a:ext>
            </a:extLst>
          </p:cNvPr>
          <p:cNvSpPr/>
          <p:nvPr/>
        </p:nvSpPr>
        <p:spPr>
          <a:xfrm>
            <a:off x="320040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B1A2F507-5DB7-E64C-5E70-435318012434}"/>
              </a:ext>
            </a:extLst>
          </p:cNvPr>
          <p:cNvSpPr/>
          <p:nvPr/>
        </p:nvSpPr>
        <p:spPr>
          <a:xfrm>
            <a:off x="6858000" y="22860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8224086-761B-4818-97E6-E5CE385AF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321" y="2009231"/>
            <a:ext cx="2906626" cy="29260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54C40E8-8041-A846-449C-BA548BBB9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84" y="2009231"/>
            <a:ext cx="4000500" cy="29284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9376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Introduction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is one of the most popular sports in the world, with millions of fans eager to predict match outcomes. This project leverages Machine Learning to predict which team wins a cricket match based on historical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060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6B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2606040" cy="109728"/>
          </a:xfrm>
          <a:prstGeom prst="rect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2860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 Matches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across IPL, ODIs, T20s &amp; Tests</a:t>
            </a:r>
            <a:endParaRPr lang="en-US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6060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6B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103120"/>
            <a:ext cx="2606040" cy="109728"/>
          </a:xfrm>
          <a:prstGeom prst="rect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2860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34747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We used a Random Forest model, which is a machine learning algorithm.</a:t>
            </a:r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26060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6B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03120"/>
            <a:ext cx="2606040" cy="109728"/>
          </a:xfrm>
          <a:prstGeom prst="rect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2860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350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34747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We also created a website where users can enter match details and get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Methodology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A6B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840480" cy="38404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 JSON match files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IPL, ODIs, T20s, Test matches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Extracted: Teams, Venue, Toss, Winner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/>
              <a:t>We removed matches where there was no result.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binary Result column (1=Team1 wins)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A8B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97280"/>
            <a:ext cx="4114800" cy="384048"/>
          </a:xfrm>
          <a:prstGeom prst="rect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Feature Engineering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1620598"/>
            <a:ext cx="3931920" cy="640080"/>
          </a:xfrm>
          <a:prstGeom prst="rect">
            <a:avLst/>
          </a:prstGeom>
          <a:solidFill>
            <a:srgbClr val="E2EAF6"/>
          </a:solidFill>
          <a:ln w="12700">
            <a:solidFill>
              <a:srgbClr val="3A6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Team1_Strength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This shows how strong Team 1 is based on past wins.</a:t>
            </a:r>
          </a:p>
        </p:txBody>
      </p:sp>
      <p:sp>
        <p:nvSpPr>
          <p:cNvPr id="15" name="Shape 13"/>
          <p:cNvSpPr/>
          <p:nvPr/>
        </p:nvSpPr>
        <p:spPr>
          <a:xfrm>
            <a:off x="4663440" y="2350008"/>
            <a:ext cx="3931920" cy="640080"/>
          </a:xfrm>
          <a:prstGeom prst="rect">
            <a:avLst/>
          </a:prstGeom>
          <a:solidFill>
            <a:srgbClr val="E2EAF6"/>
          </a:solidFill>
          <a:ln w="12700">
            <a:solidFill>
              <a:srgbClr val="3A6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Team2_Strength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This shows how strong Team 1 is based on past wins.</a:t>
            </a:r>
          </a:p>
        </p:txBody>
      </p:sp>
      <p:sp>
        <p:nvSpPr>
          <p:cNvPr id="18" name="Shape 16"/>
          <p:cNvSpPr/>
          <p:nvPr/>
        </p:nvSpPr>
        <p:spPr>
          <a:xfrm>
            <a:off x="4663440" y="3099816"/>
            <a:ext cx="3931920" cy="640080"/>
          </a:xfrm>
          <a:prstGeom prst="rect">
            <a:avLst/>
          </a:prstGeom>
          <a:solidFill>
            <a:srgbClr val="E2EAF6"/>
          </a:solidFill>
          <a:ln w="12700">
            <a:solidFill>
              <a:srgbClr val="3A6B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Strength_Diff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This is the difference between both teams’ strength.</a:t>
            </a:r>
          </a:p>
        </p:txBody>
      </p:sp>
      <p:sp>
        <p:nvSpPr>
          <p:cNvPr id="21" name="Shape 19"/>
          <p:cNvSpPr/>
          <p:nvPr/>
        </p:nvSpPr>
        <p:spPr>
          <a:xfrm>
            <a:off x="4663440" y="3849624"/>
            <a:ext cx="3931920" cy="640080"/>
          </a:xfrm>
          <a:prstGeom prst="rect">
            <a:avLst/>
          </a:prstGeom>
          <a:solidFill>
            <a:srgbClr val="E2EAF6"/>
          </a:solidFill>
          <a:ln w="12700">
            <a:solidFill>
              <a:srgbClr val="3A6B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TossWinMatchWin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toss winner win the match?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Data processing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377440" cy="2377440"/>
          </a:xfrm>
          <a:prstGeom prst="ellipse">
            <a:avLst/>
          </a:prstGeom>
          <a:solidFill>
            <a:srgbClr val="0D2B6E"/>
          </a:solidFill>
          <a:ln w="38100">
            <a:solidFill>
              <a:srgbClr val="A8B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63.6%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1143000"/>
            <a:ext cx="56692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3A6B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1216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655064"/>
            <a:ext cx="5669280" cy="457200"/>
          </a:xfrm>
          <a:prstGeom prst="rect">
            <a:avLst/>
          </a:prstGeom>
          <a:solidFill>
            <a:srgbClr val="E2EAF6"/>
          </a:solidFill>
          <a:ln w="8890">
            <a:solidFill>
              <a:srgbClr val="3A6B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728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1728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estimators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2167128"/>
            <a:ext cx="56692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3A6B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2679192"/>
            <a:ext cx="5669280" cy="457200"/>
          </a:xfrm>
          <a:prstGeom prst="rect">
            <a:avLst/>
          </a:prstGeom>
          <a:solidFill>
            <a:srgbClr val="E2EAF6"/>
          </a:solidFill>
          <a:ln w="8890">
            <a:solidFill>
              <a:srgbClr val="3A6B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7523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3191256"/>
            <a:ext cx="56692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3A6B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3264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Prob: 85.02% / 14.98%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76472"/>
            <a:ext cx="83667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B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 (from model)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096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09075" y="4456023"/>
            <a:ext cx="833933" cy="2743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945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4096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77209" y="4462272"/>
            <a:ext cx="486461" cy="274320"/>
          </a:xfrm>
          <a:prstGeom prst="rect">
            <a:avLst/>
          </a:prstGeom>
          <a:solidFill>
            <a:srgbClr val="1A3F8F"/>
          </a:solidFill>
          <a:ln w="12700">
            <a:solidFill>
              <a:srgbClr val="1A3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19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096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58511" y="4441155"/>
            <a:ext cx="330098" cy="274320"/>
          </a:xfrm>
          <a:prstGeom prst="rect">
            <a:avLst/>
          </a:prstGeom>
          <a:solidFill>
            <a:srgbClr val="3A6BC4"/>
          </a:solidFill>
          <a:ln w="12700">
            <a:solidFill>
              <a:srgbClr val="3A6B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7472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4096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TossWinMatchWin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87365" y="4434840"/>
            <a:ext cx="78629" cy="274320"/>
          </a:xfrm>
          <a:prstGeom prst="rect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2528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321040" cy="502920"/>
          </a:xfrm>
          <a:prstGeom prst="rect">
            <a:avLst/>
          </a:prstGeom>
          <a:solidFill>
            <a:srgbClr val="0D2B6E"/>
          </a:solidFill>
          <a:ln w="25400">
            <a:solidFill>
              <a:srgbClr val="A8B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3385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00"/>
                </a:solidFill>
              </a:rPr>
              <a:t>Inputs of Live ML website</a:t>
            </a:r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069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6B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2011680"/>
            <a:ext cx="594360" cy="594360"/>
          </a:xfrm>
          <a:prstGeom prst="ellipse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39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Team 1 and Team 2 from dropdown menus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4069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6B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2011680"/>
            <a:ext cx="594360" cy="594360"/>
          </a:xfrm>
          <a:prstGeom prst="ellipse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20391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Toss Input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32120" y="2331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match venue and toss outcome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069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6B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566160"/>
            <a:ext cx="594360" cy="594360"/>
          </a:xfrm>
          <a:prstGeom prst="ellipse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935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886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winner with win probability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337560"/>
            <a:ext cx="4069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6B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3566160"/>
            <a:ext cx="594360" cy="594360"/>
          </a:xfrm>
          <a:prstGeom prst="ellipse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5935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Online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3886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device via browser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801EED-B57A-A1E3-5354-2C14FA46C97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106C728-B275-0DE0-020F-E2509DD398AD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72EC09B-1E17-77B7-9AAE-BB07057BFBBA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F8F"/>
          </a:solidFill>
          <a:ln w="12700">
            <a:solidFill>
              <a:srgbClr val="1A3F8F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D00E257-6698-0AAE-9B64-08AA9FEFB3D1}"/>
              </a:ext>
            </a:extLst>
          </p:cNvPr>
          <p:cNvSpPr/>
          <p:nvPr/>
        </p:nvSpPr>
        <p:spPr>
          <a:xfrm>
            <a:off x="411480" y="2286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latin typeface="Georgia" panose="02040502050405020303" pitchFamily="18" charset="0"/>
              </a:rPr>
              <a:t>Figures/Plots Showing Results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37BFA62-F87B-21A9-B25D-A816458DC8C3}"/>
              </a:ext>
            </a:extLst>
          </p:cNvPr>
          <p:cNvSpPr/>
          <p:nvPr/>
        </p:nvSpPr>
        <p:spPr>
          <a:xfrm>
            <a:off x="411480" y="987552"/>
            <a:ext cx="7772400" cy="41148"/>
          </a:xfrm>
          <a:prstGeom prst="rect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23FD494-D2C7-FD2A-4C7C-04B7499C6ED8}"/>
              </a:ext>
            </a:extLst>
          </p:cNvPr>
          <p:cNvSpPr/>
          <p:nvPr/>
        </p:nvSpPr>
        <p:spPr>
          <a:xfrm>
            <a:off x="4114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📈 Feature Importance Graph</a:t>
            </a:r>
            <a:endParaRPr lang="en-US" sz="17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A44EACA-6369-3255-524F-A4821C8E8907}"/>
              </a:ext>
            </a:extLst>
          </p:cNvPr>
          <p:cNvSpPr/>
          <p:nvPr/>
        </p:nvSpPr>
        <p:spPr>
          <a:xfrm>
            <a:off x="457200" y="155448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EA7CF02-1011-8C0B-C38A-6A71CDA850AD}"/>
              </a:ext>
            </a:extLst>
          </p:cNvPr>
          <p:cNvSpPr/>
          <p:nvPr/>
        </p:nvSpPr>
        <p:spPr>
          <a:xfrm>
            <a:off x="4953000" y="10728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📊 Confusion Matrix</a:t>
            </a:r>
            <a:endParaRPr lang="en-US" sz="17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0D5B4B7-E954-9536-8D35-E6D051A48E01}"/>
              </a:ext>
            </a:extLst>
          </p:cNvPr>
          <p:cNvSpPr/>
          <p:nvPr/>
        </p:nvSpPr>
        <p:spPr>
          <a:xfrm>
            <a:off x="4709160" y="155448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009FBC4-7398-CEAB-A287-6FA9ECF3DA40}"/>
              </a:ext>
            </a:extLst>
          </p:cNvPr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Rishith Kulkarni  |  HTNO: 2403A51188  |  Batch 09 CSE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C3C80C-1112-1035-446A-F57FF5F75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1" y="1577340"/>
            <a:ext cx="3410691" cy="27831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FF6233-3B87-338B-8B80-CBB723397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223" y="1577340"/>
            <a:ext cx="3046181" cy="27727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4028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F8F"/>
          </a:solidFill>
          <a:ln w="12700">
            <a:solidFill>
              <a:srgbClr val="1A3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8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7772400" cy="41148"/>
          </a:xfrm>
          <a:prstGeom prst="rect">
            <a:avLst/>
          </a:prstGeom>
          <a:solidFill>
            <a:srgbClr val="A8B8D0"/>
          </a:solidFill>
          <a:ln w="12700">
            <a:solidFill>
              <a:srgbClr val="A8B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/>
              <a:t>Our model is able to predict match results with around 63% accuracy</a:t>
            </a:r>
          </a:p>
          <a:p>
            <a:pPr marL="342900" indent="-342900">
              <a:buSzPct val="100000"/>
              <a:buChar char="•"/>
            </a:pPr>
            <a:r>
              <a:rPr lang="en-US" sz="1400" dirty="0"/>
              <a:t>We found that team strength difference is the most important factor.</a:t>
            </a:r>
          </a:p>
          <a:p>
            <a:pPr marL="342900" indent="-342900">
              <a:buSzPct val="100000"/>
              <a:buChar char="•"/>
            </a:pPr>
            <a:r>
              <a:rPr lang="en-US" sz="1400" dirty="0"/>
              <a:t>Toss result has very less impact on the final result.</a:t>
            </a:r>
          </a:p>
          <a:p>
            <a:pPr marL="342900" indent="-342900">
              <a:buSzPct val="100000"/>
              <a:buChar char="•"/>
            </a:pPr>
            <a:r>
              <a:rPr lang="en-US" sz="1400" dirty="0"/>
              <a:t>We also created a live website where users can get predictions.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155448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/>
              <a:t>We also created a live website where users can get predictions.</a:t>
            </a:r>
          </a:p>
          <a:p>
            <a:pPr marL="342900" indent="-342900">
              <a:buSzPct val="100000"/>
              <a:buChar char="•"/>
            </a:pPr>
            <a:r>
              <a:rPr lang="en-US" sz="1400" dirty="0"/>
              <a:t>We can add player details like batting and bowling performance.</a:t>
            </a:r>
          </a:p>
          <a:p>
            <a:pPr marL="342900" indent="-342900">
              <a:buSzPct val="100000"/>
              <a:buChar char="•"/>
            </a:pPr>
            <a:r>
              <a:rPr lang="en-US" sz="1400" dirty="0"/>
              <a:t>We can add player details like batting and bowling performance.</a:t>
            </a:r>
          </a:p>
          <a:p>
            <a:pPr marL="342900" indent="-342900">
              <a:buSzPct val="100000"/>
              <a:buChar char="•"/>
            </a:pPr>
            <a:r>
              <a:rPr lang="en-US" sz="1400" dirty="0"/>
              <a:t>We can also use live match data for real-time prediction.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Rishith Kulkarni  |  HTNO: 2403A51188  |  Batch 09 CSE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E4D12F-94B3-6FFA-36BD-14DD4B016F2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B43CDC55-28A5-F24E-684A-963E5CE2BBED}"/>
              </a:ext>
            </a:extLst>
          </p:cNvPr>
          <p:cNvSpPr txBox="1"/>
          <p:nvPr/>
        </p:nvSpPr>
        <p:spPr>
          <a:xfrm>
            <a:off x="797405" y="1287964"/>
            <a:ext cx="8236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FFFF00"/>
                </a:solidFill>
              </a:rPr>
              <a:t>Github</a:t>
            </a:r>
            <a:r>
              <a:rPr lang="en-IN" dirty="0"/>
              <a:t> </a:t>
            </a:r>
            <a:r>
              <a:rPr lang="en-IN" dirty="0">
                <a:solidFill>
                  <a:srgbClr val="FFFF00"/>
                </a:solidFill>
              </a:rPr>
              <a:t>Repository</a:t>
            </a:r>
            <a:r>
              <a:rPr lang="en-IN" dirty="0"/>
              <a:t> : https://github.com/rishith3110/cricket-match-outcome-predictor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5D9DE-957D-1BA7-DA49-9786A076C7A7}"/>
              </a:ext>
            </a:extLst>
          </p:cNvPr>
          <p:cNvSpPr txBox="1"/>
          <p:nvPr/>
        </p:nvSpPr>
        <p:spPr>
          <a:xfrm>
            <a:off x="2757571" y="2869658"/>
            <a:ext cx="5881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odoni MT Black" panose="02070A03080606020203" pitchFamily="18" charset="0"/>
              </a:rPr>
              <a:t>Thank you !</a:t>
            </a:r>
            <a:endParaRPr lang="en-IN" sz="4400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5352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</TotalTime>
  <Words>496</Words>
  <Application>Microsoft Office PowerPoint</Application>
  <PresentationFormat>On-screen Show (16:9)</PresentationFormat>
  <Paragraphs>99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Bodoni MT Black</vt:lpstr>
      <vt:lpstr>Calibri</vt:lpstr>
      <vt:lpstr>Century Gothic</vt:lpstr>
      <vt:lpstr>Georgia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 Match Outcome Predictor</dc:title>
  <dc:subject>PptxGenJS Presentation</dc:subject>
  <dc:creator>Rishith Kulkarni</dc:creator>
  <cp:lastModifiedBy>GODSLAYER MAITY</cp:lastModifiedBy>
  <cp:revision>15</cp:revision>
  <dcterms:created xsi:type="dcterms:W3CDTF">2026-04-05T17:01:05Z</dcterms:created>
  <dcterms:modified xsi:type="dcterms:W3CDTF">2026-04-07T09:20:01Z</dcterms:modified>
</cp:coreProperties>
</file>